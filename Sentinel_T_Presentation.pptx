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20040" cy="67848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B4D8"/>
                </a:solidFill>
                <a:latin typeface="Calibri"/>
              </a:rPr>
              <a:t>PROJECT SENTINEL-T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A Physical-Layer Intrusion Detection System
for Automotive CAN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566160"/>
            <a:ext cx="7616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F0F1"/>
                </a:solidFill>
                <a:latin typeface="Calibri"/>
              </a:rPr>
              <a:t>Amit Vikramaditya  |  Automotive 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CEE"/>
                </a:solidFill>
                <a:latin typeface="Calibri"/>
              </a:rPr>
              <a:t>Detecting CAN Bus attacks by fingerprinting
physical ECU clock drift using Kernel-Level Timestamping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77240"/>
            <a:ext cx="116403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  <a:latin typeface="Calibri"/>
              </a:rPr>
              <a:t>What we will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146304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Calibri"/>
              </a:rPr>
              <a:t>CAN bus, attack surface, why security is hard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5486400" cy="146304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Existing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Calibri"/>
              </a:rPr>
              <a:t>Survey of current CAN IDS approaches &amp; limitations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80560"/>
            <a:ext cx="5486400" cy="146304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Calibri"/>
              </a:rPr>
              <a:t>Physical-layer clock fingerprinting concept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97280"/>
            <a:ext cx="5486400" cy="146304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43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143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691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Calibri"/>
              </a:rPr>
              <a:t>Three-layer pipeline + Kalman Filter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5486400" cy="146304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8346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383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Calibri"/>
              </a:rPr>
              <a:t>Live validation, datasets, stress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480560"/>
            <a:ext cx="5486400" cy="146304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26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5262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074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Calibri"/>
              </a:rPr>
              <a:t>Key findings, limitations,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77240"/>
            <a:ext cx="116403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Introduction: The CAN Bus Security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  <a:latin typeface="Calibri"/>
              </a:rPr>
              <a:t>ISO 11898 | Designed in 1986 | No authentication | ~1.4 billion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  <a:latin typeface="Calibri"/>
              </a:rPr>
              <a:t>CAN Bus: The Nervous System of Every 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70–100 ECUs in a modern vehicle, all sharing one broadcast bus
• No sender address · No encryption · No authentication
• Every node receives every message — implicit trust
• 2015: Jeep Cherokee remotely compromised via cellular → steering &amp; brakes disabled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  <a:latin typeface="Calibri"/>
              </a:rPr>
              <a:t>Why Not Just Add Encryption?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06908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① Only 8 bytes payload — HMAC alone is 16 bytes
② 8/16-bit MCUs in legacy ECUs — no crypto hardware
③ 1–10 ms timing budget — crypto overhead violates real-time constraints
④ Key management across 100 ECUs from 50 suppliers — unsolved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960120"/>
            <a:ext cx="4023360" cy="493776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051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Attack Surfaces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🔌  OBD-II Port
    Physical under dashboard
📡  TCU (Telematics)
    Cellular remote access
🎵  Infotainment
    Wi-Fi · Bluetooth · USB
🚗  V2X Module
    Over-the-air injection
🔧  Aftermarket Dongles
    Malicious OBD-II accessories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77240"/>
            <a:ext cx="116403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  <a:latin typeface="Calibri"/>
              </a:rPr>
              <a:t>Survey of CAN Intrusion Detection approaches and their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22402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78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Content / Payload
IDS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45920"/>
            <a:ext cx="2240280" cy="484632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How it works: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Inspects data bytes for
abnormal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246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  <a:latin typeface="Calibri"/>
              </a:rPr>
              <a:t>Limitations: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56616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❌ Defeated by data-
    aware attackers
❌ Cannot detect
    masquerade attacks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051560"/>
            <a:ext cx="22402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078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Frequency /
Timing IDS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645920"/>
            <a:ext cx="2240280" cy="484632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How it works: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0574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Monitors message rate
for injection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246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  <a:latin typeface="Calibri"/>
              </a:rPr>
              <a:t>Limitations: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56616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❌ Time-aligned attackers
    bypass detection
❌ High false-positive
    rate on load spikes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051560"/>
            <a:ext cx="22402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078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AUTOSAR SecOC
(Cryptographic)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1645920"/>
            <a:ext cx="2240280" cy="4846320"/>
          </a:xfrm>
          <a:prstGeom prst="rect">
            <a:avLst/>
          </a:prstGeom>
          <a:solidFill>
            <a:srgbClr val="1B3A4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How it works: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0574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Adds HMAC to each frame;
requires key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46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  <a:latin typeface="Calibri"/>
              </a:rPr>
              <a:t>Limitations: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56616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❌ Requires new MCUs
❌ Not backwards compat.
❌ Key mgmt complexity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59" y="1051560"/>
            <a:ext cx="22402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1078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Cho &amp; Shin 2016
(Clock Fingerprint)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59" y="1645920"/>
            <a:ext cx="2240280" cy="4846320"/>
          </a:xfrm>
          <a:prstGeom prst="rect">
            <a:avLst/>
          </a:prstGeom>
          <a:solidFill>
            <a:srgbClr val="1B3A4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9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How it works: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9" y="20574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Linear regression on
clock skew, USENIX Sec.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9" y="3246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  <a:latin typeface="Calibri"/>
              </a:rPr>
              <a:t>Limitations: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9" y="356616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❌ No jitter separation
❌ No state model
❌ Clean environment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1051560"/>
            <a:ext cx="22402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1078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Sentinel-T
(This Project) 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1645920"/>
            <a:ext cx="2240280" cy="4846320"/>
          </a:xfrm>
          <a:prstGeom prst="rect">
            <a:avLst/>
          </a:prstGeom>
          <a:solidFill>
            <a:srgbClr val="0D2B1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17373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How it works: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057400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Kalman Filter separates
physical drift from OS jitter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246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9C12"/>
                </a:solidFill>
                <a:latin typeface="Calibri"/>
              </a:rPr>
              <a:t>Limitations: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356616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✅ Works on legacy ECUs
✅ Real-time &lt; 0.04 ms
✅ Separates jitter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77240"/>
            <a:ext cx="116403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Proposed Solution: Physical-Layer Clock Fingerprinting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  <a:latin typeface="Calibri"/>
              </a:rPr>
              <a:t>Authenticate ECUs by what their silicon IS, not what they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  <a:latin typeface="Calibri"/>
              </a:rPr>
              <a:t>The Core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Every ECU contains a quartz crystal oscillator. Its resonant frequency drifts slowly with temperature — this drift is physically unique per device. No software running on any OS can replicate it without measuring the actual crystal.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56692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30428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</a:rPr>
              <a:t>Real ECU (Physical Crystal)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5669280" cy="2560320"/>
          </a:xfrm>
          <a:prstGeom prst="rect">
            <a:avLst/>
          </a:prstGeom>
          <a:solidFill>
            <a:srgbClr val="1B3A6B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Thermal drift: slow sinusoidal, correlated
• O-U jitter: mean-reverting, bounded
• Consecutive intervals are NOT independent
• Drift rate = ±20 ppm over temperature range
• Detectable with Kalman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86000"/>
            <a:ext cx="566928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0428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</a:rPr>
              <a:t>Software Attacker (OS Timer)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743200"/>
            <a:ext cx="5669280" cy="2560320"/>
          </a:xfrm>
          <a:prstGeom prst="rect">
            <a:avLst/>
          </a:prstGeom>
          <a:solidFill>
            <a:srgbClr val="1B3A6B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8892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sleep(0.01) scheduling: memoryless
• Each interval is independent of the last
• Gaussian noise from scheduler quantisation
• No correlation structure
• Filter residual stays persistently high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349240"/>
            <a:ext cx="116128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77240"/>
            <a:ext cx="116403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  <a:latin typeface="Calibri"/>
              </a:rPr>
              <a:t>Three-layer pipeline: Physical Bus → Kernel Timestamp Tap → Chronomorphic Engine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3840480"/>
            <a:ext cx="11612880" cy="265176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931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Phase-Velocity Kalman Filter  |  State: x = [φ (offset),  φ̇ (drift rate)]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8912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  Predict:     x_pred = F · x                  P_pred = F · P · Fᵀ + Q          Q = 1×10⁻¹²  (slow drift)
  Measure:    z = Δt − T_nominal                residual r = z − H · x_pred
  Update:      K = P_pred · Hᵀ · (H · P_pred · Hᵀ + R)⁻¹        x = x_pred + K · r       R = 1×10⁻¹⁰  (OS jitter)
  |r| &lt; 200 µs  →  PHYSICAL  ✅           |r| ≥ 200 µs  →  ANOMALY  🚨           count &lt; 10  →  WARMUP  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77240"/>
            <a:ext cx="116403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Results: Live Monitor (Azure VM)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  <a:latin typeface="Calibri"/>
              </a:rPr>
              <a:t>Ubuntu 24.04 + linux-modules-extra + vcan0 virtual CAN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82880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  <a:latin typeface="Calibri"/>
              </a:rPr>
              <a:t>0.53 µs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CF0F1"/>
                </a:solidFill>
                <a:latin typeface="Calibri"/>
              </a:rPr>
              <a:t>ECU
Residual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1005840"/>
            <a:ext cx="182880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1051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74C3C"/>
                </a:solidFill>
                <a:latin typeface="Calibri"/>
              </a:rPr>
              <a:t>350–800 µs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CF0F1"/>
                </a:solidFill>
                <a:latin typeface="Calibri"/>
              </a:rPr>
              <a:t>Attacker
Residual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51376" y="1005840"/>
            <a:ext cx="182880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1376" y="1051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1.88×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1376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CF0F1"/>
                </a:solidFill>
                <a:latin typeface="Calibri"/>
              </a:rPr>
              <a:t>SNR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005840"/>
            <a:ext cx="182880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1051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&lt; 0.04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CF0F1"/>
                </a:solidFill>
                <a:latin typeface="Calibri"/>
              </a:rPr>
              <a:t>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1005840"/>
            <a:ext cx="182880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2" y="1051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  <a:latin typeface="Calibri"/>
              </a:rP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CF0F1"/>
                </a:solidFill>
                <a:latin typeface="Calibri"/>
              </a:rPr>
              <a:t>False
Positive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005840"/>
            <a:ext cx="1828800" cy="1371600"/>
          </a:xfrm>
          <a:prstGeom prst="rect">
            <a:avLst/>
          </a:prstGeom>
          <a:solidFill>
            <a:srgbClr val="1B3A6B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051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  <a:latin typeface="Calibri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CF0F1"/>
                </a:solidFill>
                <a:latin typeface="Calibri"/>
              </a:rPr>
              <a:t>False
Negative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0"/>
            <a:ext cx="6126480" cy="411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5603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77240"/>
            <a:ext cx="116403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Results: Dataset Benchmark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  <a:latin typeface="Calibri"/>
              </a:rPr>
              <a:t>5 benchmark datasets · 6 ECU types · 4 attack scenarios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126480" cy="3657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05840"/>
            <a:ext cx="5486400" cy="36576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709160"/>
          <a:ext cx="11612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3383280"/>
                <a:gridCol w="320040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  <a:latin typeface="Calibri"/>
                        </a:rPr>
                        <a:t>Messages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  <a:latin typeface="Calibri"/>
                        </a:rPr>
                        <a:t>Detection Rate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  <a:latin typeface="Calibri"/>
                        </a:rPr>
                        <a:t>FPR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Normal (baseline)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5,400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~0%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Injection Attack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15,700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99.1%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Smart Injection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15,700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85.2%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Fuzzing Attack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67,000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98.3%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Replay Attack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15,700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72.4%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77240"/>
            <a:ext cx="116403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Results: OS Jitter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0F1"/>
                </a:solidFill>
                <a:latin typeface="Calibri"/>
              </a:rPr>
              <a:t>Detection SNR remains &gt; 1.0 even at 500 µs OS scheduling jitter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058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  <a:latin typeface="Calibri"/>
              </a:rPr>
              <a:t>Key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55448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Even at 500 µs of OS scheduling
jitter — typical of a heavily loaded
non-RT Linux kernel — the SNR
remains above 1.0.
The physical drift signal is
recoverable across all realistic
operating conditions.
The Kalman Filter's high R/Q ratio
(= 100) is the key: it deliberately
ignores single-measurement noise and
tracks only persistent, structured
deviations — exactly the signature
that distinguishes silicon from software.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77240"/>
            <a:ext cx="116403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1612880" cy="960120"/>
          </a:xfrm>
          <a:prstGeom prst="rect">
            <a:avLst/>
          </a:prstGeom>
          <a:solidFill>
            <a:srgbClr val="1B3A6B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✅  Kernel timestamping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SO_TIMESTAMP reduces noise floor by 1–2 orders vs user-space time.time()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48839"/>
            <a:ext cx="11612880" cy="960120"/>
          </a:xfrm>
          <a:prstGeom prst="rect">
            <a:avLst/>
          </a:prstGeom>
          <a:solidFill>
            <a:srgbClr val="1B3A6B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5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✅  Kalman Filter is effective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3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Simple 2D state model separates thermal drift from scheduling jitter (SNR 1.88×)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46120"/>
            <a:ext cx="11612880" cy="960120"/>
          </a:xfrm>
          <a:prstGeom prst="rect">
            <a:avLst/>
          </a:prstGeom>
          <a:solidFill>
            <a:srgbClr val="1B3A6B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✅  Clear detection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3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0.53 µs (ECU) vs 350–800 µs (attacker) → 200 µs threshold, 0% FP/FN observed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43400"/>
            <a:ext cx="11612880" cy="960120"/>
          </a:xfrm>
          <a:prstGeom prst="rect">
            <a:avLst/>
          </a:prstGeom>
          <a:solidFill>
            <a:srgbClr val="1B3A6B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✅  Real-time capable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00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&lt; 0.04 ms per packet — &lt; 0.4% of the 10 ms CAN cycle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440679"/>
            <a:ext cx="11612880" cy="960120"/>
          </a:xfrm>
          <a:prstGeom prst="rect">
            <a:avLst/>
          </a:prstGeom>
          <a:solidFill>
            <a:srgbClr val="4B2A00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48639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Calibri"/>
              </a:rPr>
              <a:t>⚠️  Replay is hardest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89787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72% detection — similar timing to real ECU; requires multi-feature fusion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  <a:latin typeface="Calibri"/>
              </a:rPr>
              <a:t>Future:  Phase 2 → Physical hardware (RPi + MCP2515)  |  Phase 3 → Mamba SSM  |  Phase 4 → Multi-feature (clock + voltage + sequence)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00B4D8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Project Sentinel-T  |  Automotive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  <a:latin typeface="Calibri"/>
              </a:rPr>
              <a:t>github.com/amit-vikramaditya/Project-Sentinel-T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CF0F1"/>
                </a:solidFill>
                <a:latin typeface="Calibri"/>
              </a:rPr>
              <a:t>References: Miller &amp; Valasek (2015) · Cho &amp; Shin, USENIX Security (2016)
Müter &amp; Asaj, IEEE IV (2011) · ISO 11898 · AUTOSAR SecOC · ISO 21434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